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6" r:id="rId8"/>
    <p:sldId id="270" r:id="rId9"/>
    <p:sldId id="273" r:id="rId10"/>
    <p:sldId id="271" r:id="rId11"/>
    <p:sldId id="272" r:id="rId12"/>
    <p:sldId id="274" r:id="rId13"/>
    <p:sldId id="275"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81" d="100"/>
          <a:sy n="81" d="100"/>
        </p:scale>
        <p:origin x="1277"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5/5/2026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5/5/2026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3600" dirty="0">
                <a:latin typeface="Times New Roman" panose="02020603050405020304" pitchFamily="18" charset="0"/>
                <a:ea typeface="Calibri" panose="020F0502020204030204" pitchFamily="34" charset="0"/>
                <a:cs typeface="Times New Roman" panose="02020603050405020304" pitchFamily="18" charset="0"/>
              </a:rPr>
              <a:t>&lt;AI that predicts online shopping price drops and best buy time&gt;</a:t>
            </a:r>
            <a:endParaRPr lang="en-US" sz="36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&lt;Muskan Aggarwal, Dhruv Sehal&gt;</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&lt;</a:t>
            </a:r>
            <a:r>
              <a:rPr lang="en-US" sz="2000" spc="-1" dirty="0">
                <a:solidFill>
                  <a:srgbClr val="000000"/>
                </a:solidFill>
                <a:latin typeface="Times New Roman" panose="02020603050405020304" pitchFamily="18" charset="0"/>
                <a:ea typeface="MS PGothic"/>
                <a:cs typeface="Times New Roman" panose="02020603050405020304" pitchFamily="18" charset="0"/>
              </a:rPr>
              <a:t>2210991946, 2210991511&gt;</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&lt;</a:t>
            </a:r>
            <a:r>
              <a:rPr lang="en-US" sz="2000" spc="-1" dirty="0">
                <a:solidFill>
                  <a:srgbClr val="000000"/>
                </a:solidFill>
                <a:latin typeface="Times New Roman" panose="02020603050405020304" pitchFamily="18" charset="0"/>
                <a:ea typeface="MS PGothic"/>
                <a:cs typeface="Times New Roman" panose="02020603050405020304" pitchFamily="18" charset="0"/>
              </a:rPr>
              <a:t>Simarjit Kaur</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&gt;</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research introduces an intelligent system named </a:t>
            </a:r>
            <a:r>
              <a:rPr lang="en-US" sz="2000" dirty="0" err="1">
                <a:latin typeface="Times New Roman" panose="02020603050405020304" pitchFamily="18" charset="0"/>
                <a:cs typeface="Times New Roman" panose="02020603050405020304" pitchFamily="18" charset="0"/>
              </a:rPr>
              <a:t>SmartPrice</a:t>
            </a:r>
            <a:r>
              <a:rPr lang="en-US" sz="2000" dirty="0">
                <a:latin typeface="Times New Roman" panose="02020603050405020304" pitchFamily="18" charset="0"/>
                <a:cs typeface="Times New Roman" panose="02020603050405020304" pitchFamily="18" charset="0"/>
              </a:rPr>
              <a:t> AI, designed to help users deal with the challenges of changing prices on online shopping sites like Amazon and Flipkart. The system collects real-time information on product prices, discounts, and customer ratings through web scraping, making it easier for shoppers to decide when to buy. The study compares two methods: a traditional ARIMA model and a Long Short-Term Memory (LSTM) deep learning model. The results show that the LSTM model is more effective at predicting prices, achieving 92.7% accuracy and a very low Mean Absolute Error (MAE) of 0.019, which is better than traditional statistical approaches. Once developed, the system is made available as an API using Flask and also as a browser extension. This allows users to get real-time suggestions like ”Buy Now” or ”Wait” when making purchases. The research shows that using AI to assist consumers can help them get the best deals despite fluctuating prices in the market.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8A94-DBB0-350F-591F-8D0BF0C5A91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2911BC9-2FB8-286F-675C-DFAD7EE300F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Description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04508F37-D8DE-3128-7347-79F7B5E066C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9A0E3627-875D-7551-7228-16CCBBAC0AED}"/>
              </a:ext>
            </a:extLst>
          </p:cNvPr>
          <p:cNvSpPr txBox="1"/>
          <p:nvPr/>
        </p:nvSpPr>
        <p:spPr>
          <a:xfrm>
            <a:off x="164008" y="1109742"/>
            <a:ext cx="8838720" cy="4838571"/>
          </a:xfrm>
          <a:prstGeom prst="rect">
            <a:avLst/>
          </a:prstGeom>
          <a:noFill/>
          <a:ln w="9360">
            <a:noFill/>
          </a:ln>
        </p:spPr>
        <p:txBody>
          <a:bodyPr>
            <a:noAutofit/>
          </a:bodyPr>
          <a:lstStyle/>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system predicts future price fluctuations of online products to help consumers make better purchasing decisions.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Historical product price data is collected and processed as a time-series dataset.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models such as ARIMA and Long Short-Term Memory (LSTM) are used to analyze historical trends and forecast upcoming price changes.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evaluates predicted prices and generates decision recommendations such as “Buy Now” or “Wait.”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Flask-based API and browser extension provide real-time predictions and user-friendly interaction.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approach helps users avoid unnecessary spending and purchase products at the most optimal time.</a:t>
            </a:r>
          </a:p>
        </p:txBody>
      </p:sp>
    </p:spTree>
    <p:extLst>
      <p:ext uri="{BB962C8B-B14F-4D97-AF65-F5344CB8AC3E}">
        <p14:creationId xmlns:p14="http://schemas.microsoft.com/office/powerpoint/2010/main" val="175636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3413A-33DF-D0F8-6F82-37FC4997912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A06540D-156D-6551-5351-E6C26D764574}"/>
              </a:ext>
            </a:extLst>
          </p:cNvPr>
          <p:cNvSpPr txBox="1"/>
          <p:nvPr/>
        </p:nvSpPr>
        <p:spPr>
          <a:xfrm>
            <a:off x="913984" y="0"/>
            <a:ext cx="7338767" cy="837720"/>
          </a:xfrm>
          <a:prstGeom prst="rect">
            <a:avLst/>
          </a:prstGeom>
          <a:noFill/>
          <a:ln w="9360">
            <a:noFill/>
          </a:ln>
        </p:spPr>
        <p:txBody>
          <a:bodyPr anchor="ctr">
            <a:noAutofit/>
          </a:bodyPr>
          <a:lstStyle/>
          <a:p>
            <a:r>
              <a:rPr lang="en-US" sz="3200" dirty="0">
                <a:latin typeface="Times New Roman" panose="02020603050405020304" pitchFamily="18" charset="0"/>
                <a:cs typeface="Times New Roman" panose="02020603050405020304" pitchFamily="18" charset="0"/>
              </a:rPr>
              <a:t>Appendix</a:t>
            </a:r>
            <a:endParaRPr lang="en-US" sz="2800"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DF76164-307A-F84D-C155-6304FFB362C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Box 4">
            <a:extLst>
              <a:ext uri="{FF2B5EF4-FFF2-40B4-BE49-F238E27FC236}">
                <a16:creationId xmlns:a16="http://schemas.microsoft.com/office/drawing/2014/main" id="{D3ADA00F-4F90-D8E4-2FF5-F02642023662}"/>
              </a:ext>
            </a:extLst>
          </p:cNvPr>
          <p:cNvSpPr txBox="1"/>
          <p:nvPr/>
        </p:nvSpPr>
        <p:spPr>
          <a:xfrm>
            <a:off x="386499" y="1187777"/>
            <a:ext cx="7975076" cy="4401205"/>
          </a:xfrm>
          <a:prstGeom prst="rect">
            <a:avLst/>
          </a:prstGeom>
          <a:noFill/>
        </p:spPr>
        <p:txBody>
          <a:bodyPr wrap="square">
            <a:spAutoFit/>
          </a:bodyPr>
          <a:lstStyle/>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Programming Language: Python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Libraries Used: NumPy, Pandas, Matplotlib, Seaborn, Scikit-learn, TensorFlow/</a:t>
            </a:r>
            <a:r>
              <a:rPr lang="en-US" sz="2000" dirty="0" err="1">
                <a:latin typeface="Times New Roman" panose="02020603050405020304" pitchFamily="18" charset="0"/>
                <a:cs typeface="Times New Roman" panose="02020603050405020304" pitchFamily="18" charset="0"/>
              </a:rPr>
              <a:t>Keras</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Dataset: Historical product price data collected and stored in CSV format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Parameters: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LSTM units: 50</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Dropout rate: 0.2</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Epochs: 25</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Batch size: 16</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Lookback window: 14 days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Evaluation Metrics: Mean Squared Error (MSE)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Visualization Tools: Matplotlib and Seaborn for trend analysis and model performance graphs</a:t>
            </a:r>
          </a:p>
        </p:txBody>
      </p:sp>
    </p:spTree>
    <p:extLst>
      <p:ext uri="{BB962C8B-B14F-4D97-AF65-F5344CB8AC3E}">
        <p14:creationId xmlns:p14="http://schemas.microsoft.com/office/powerpoint/2010/main" val="761016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1CAF-3D0F-29F3-0D93-1AD72E3C8A9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A37AD09-0B12-CD05-13C7-CCFC296EE4D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dirty="0">
                <a:latin typeface="Times New Roman" panose="02020603050405020304" pitchFamily="18" charset="0"/>
                <a:cs typeface="Times New Roman" panose="02020603050405020304" pitchFamily="18" charset="0"/>
              </a:rPr>
              <a:t>System Architecture Overview</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EC49337-B4E9-0587-3518-B63B1824445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pic>
        <p:nvPicPr>
          <p:cNvPr id="7" name="Picture 6">
            <a:extLst>
              <a:ext uri="{FF2B5EF4-FFF2-40B4-BE49-F238E27FC236}">
                <a16:creationId xmlns:a16="http://schemas.microsoft.com/office/drawing/2014/main" id="{24845510-9686-C399-F922-FC6579475F0C}"/>
              </a:ext>
            </a:extLst>
          </p:cNvPr>
          <p:cNvPicPr>
            <a:picLocks noChangeAspect="1"/>
          </p:cNvPicPr>
          <p:nvPr/>
        </p:nvPicPr>
        <p:blipFill>
          <a:blip r:embed="rId2"/>
          <a:stretch>
            <a:fillRect/>
          </a:stretch>
        </p:blipFill>
        <p:spPr>
          <a:xfrm>
            <a:off x="661709" y="2805011"/>
            <a:ext cx="6807009" cy="3175262"/>
          </a:xfrm>
          <a:prstGeom prst="rect">
            <a:avLst/>
          </a:prstGeom>
        </p:spPr>
      </p:pic>
      <p:sp>
        <p:nvSpPr>
          <p:cNvPr id="8" name="TextBox 7">
            <a:extLst>
              <a:ext uri="{FF2B5EF4-FFF2-40B4-BE49-F238E27FC236}">
                <a16:creationId xmlns:a16="http://schemas.microsoft.com/office/drawing/2014/main" id="{51F56ACB-ADAA-E2E9-16C2-F4B3CC97B676}"/>
              </a:ext>
            </a:extLst>
          </p:cNvPr>
          <p:cNvSpPr txBox="1"/>
          <p:nvPr/>
        </p:nvSpPr>
        <p:spPr>
          <a:xfrm>
            <a:off x="341198" y="1413102"/>
            <a:ext cx="8345242" cy="1015663"/>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Each module handles a distinct stage — from raw data collection to actionable consumer guidance — ensuring modularity and accuracy throughout the pipeline.</a:t>
            </a:r>
          </a:p>
        </p:txBody>
      </p:sp>
    </p:spTree>
    <p:extLst>
      <p:ext uri="{BB962C8B-B14F-4D97-AF65-F5344CB8AC3E}">
        <p14:creationId xmlns:p14="http://schemas.microsoft.com/office/powerpoint/2010/main" val="388195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AC8C-28D6-B907-1BAD-B75A0C68B7F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EB66E8A-9CCE-3CCD-DBE9-BF33DC5C9A6D}"/>
              </a:ext>
            </a:extLst>
          </p:cNvPr>
          <p:cNvSpPr txBox="1"/>
          <p:nvPr/>
        </p:nvSpPr>
        <p:spPr>
          <a:xfrm>
            <a:off x="913984" y="0"/>
            <a:ext cx="7338767" cy="837720"/>
          </a:xfrm>
          <a:prstGeom prst="rect">
            <a:avLst/>
          </a:prstGeom>
          <a:noFill/>
          <a:ln w="9360">
            <a:noFill/>
          </a:ln>
        </p:spPr>
        <p:txBody>
          <a:bodyPr anchor="ctr">
            <a:noAutofit/>
          </a:bodyPr>
          <a:lstStyle/>
          <a:p>
            <a:r>
              <a:rPr lang="en-US" sz="3200" dirty="0">
                <a:latin typeface="Times New Roman" panose="02020603050405020304" pitchFamily="18" charset="0"/>
                <a:cs typeface="Times New Roman" panose="02020603050405020304" pitchFamily="18" charset="0"/>
              </a:rPr>
              <a:t>API &amp; Browser Extension</a:t>
            </a:r>
            <a:r>
              <a:rPr lang="en-US" sz="2800" dirty="0">
                <a:latin typeface="Times New Roman" panose="02020603050405020304" pitchFamily="18" charset="0"/>
                <a:cs typeface="Times New Roman" panose="02020603050405020304" pitchFamily="18" charset="0"/>
              </a:rPr>
              <a:t>:-</a:t>
            </a:r>
          </a:p>
        </p:txBody>
      </p:sp>
      <p:sp>
        <p:nvSpPr>
          <p:cNvPr id="110" name="TextShape 3">
            <a:extLst>
              <a:ext uri="{FF2B5EF4-FFF2-40B4-BE49-F238E27FC236}">
                <a16:creationId xmlns:a16="http://schemas.microsoft.com/office/drawing/2014/main" id="{9388959F-D15A-490F-F189-FB85D9258A3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D35C82E4-34CF-A1B3-099B-E452069E54D6}"/>
              </a:ext>
            </a:extLst>
          </p:cNvPr>
          <p:cNvSpPr txBox="1"/>
          <p:nvPr/>
        </p:nvSpPr>
        <p:spPr>
          <a:xfrm>
            <a:off x="457560" y="1700289"/>
            <a:ext cx="5435514" cy="4838571"/>
          </a:xfrm>
          <a:prstGeom prst="rect">
            <a:avLst/>
          </a:prstGeom>
          <a:noFill/>
          <a:ln w="9360">
            <a:noFill/>
          </a:ln>
        </p:spPr>
        <p:txBody>
          <a:bodyPr>
            <a:noAutofit/>
          </a:bodyPr>
          <a:lstStyle/>
          <a:p>
            <a:pPr>
              <a:buNone/>
            </a:pPr>
            <a:r>
              <a:rPr lang="en-US" sz="2000" b="1" dirty="0">
                <a:latin typeface="Times New Roman" panose="02020603050405020304" pitchFamily="18" charset="0"/>
                <a:cs typeface="Times New Roman" panose="02020603050405020304" pitchFamily="18" charset="0"/>
              </a:rPr>
              <a:t>Flask API</a:t>
            </a:r>
          </a:p>
          <a:p>
            <a:pPr>
              <a:buNone/>
            </a:pPr>
            <a:r>
              <a:rPr lang="en-US" sz="2000" dirty="0">
                <a:latin typeface="Times New Roman" panose="02020603050405020304" pitchFamily="18" charset="0"/>
                <a:cs typeface="Times New Roman" panose="02020603050405020304" pitchFamily="18" charset="0"/>
              </a:rPr>
              <a:t>Exposes the trained LSTM model as a RESTful endpoint for real-time price predictions</a:t>
            </a:r>
          </a:p>
          <a:p>
            <a:pPr>
              <a:buNone/>
            </a:pPr>
            <a:r>
              <a:rPr lang="en-US" sz="2000" b="1" dirty="0">
                <a:latin typeface="Times New Roman" panose="02020603050405020304" pitchFamily="18" charset="0"/>
                <a:cs typeface="Times New Roman" panose="02020603050405020304" pitchFamily="18" charset="0"/>
              </a:rPr>
              <a:t>Browser Extension</a:t>
            </a:r>
          </a:p>
          <a:p>
            <a:pPr>
              <a:buNone/>
            </a:pPr>
            <a:r>
              <a:rPr lang="en-US" sz="2000" dirty="0">
                <a:latin typeface="Times New Roman" panose="02020603050405020304" pitchFamily="18" charset="0"/>
                <a:cs typeface="Times New Roman" panose="02020603050405020304" pitchFamily="18" charset="0"/>
              </a:rPr>
              <a:t>Delivers instant </a:t>
            </a:r>
            <a:r>
              <a:rPr lang="en-US" sz="2000" b="1" dirty="0">
                <a:latin typeface="Times New Roman" panose="02020603050405020304" pitchFamily="18" charset="0"/>
                <a:cs typeface="Times New Roman" panose="02020603050405020304" pitchFamily="18" charset="0"/>
              </a:rPr>
              <a:t>"Buy Now"</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"Wait"</a:t>
            </a:r>
            <a:r>
              <a:rPr lang="en-US" sz="2000" dirty="0">
                <a:latin typeface="Times New Roman" panose="02020603050405020304" pitchFamily="18" charset="0"/>
                <a:cs typeface="Times New Roman" panose="02020603050405020304" pitchFamily="18" charset="0"/>
              </a:rPr>
              <a:t> recommendations directly on product pages</a:t>
            </a:r>
          </a:p>
          <a:p>
            <a:pPr>
              <a:buNone/>
            </a:pPr>
            <a:r>
              <a:rPr lang="en-US" sz="2000" b="1" dirty="0">
                <a:latin typeface="Times New Roman" panose="02020603050405020304" pitchFamily="18" charset="0"/>
                <a:cs typeface="Times New Roman" panose="02020603050405020304" pitchFamily="18" charset="0"/>
              </a:rPr>
              <a:t>Consumer-Facing</a:t>
            </a:r>
          </a:p>
          <a:p>
            <a:pPr>
              <a:buNone/>
            </a:pPr>
            <a:r>
              <a:rPr lang="en-US" sz="2000" dirty="0">
                <a:latin typeface="Times New Roman" panose="02020603050405020304" pitchFamily="18" charset="0"/>
                <a:cs typeface="Times New Roman" panose="02020603050405020304" pitchFamily="18" charset="0"/>
              </a:rPr>
              <a:t>Brings data-driven decisions to everyday shoppers, not just retailers</a:t>
            </a:r>
          </a:p>
        </p:txBody>
      </p:sp>
      <p:pic>
        <p:nvPicPr>
          <p:cNvPr id="2" name="Picture 1">
            <a:extLst>
              <a:ext uri="{FF2B5EF4-FFF2-40B4-BE49-F238E27FC236}">
                <a16:creationId xmlns:a16="http://schemas.microsoft.com/office/drawing/2014/main" id="{D57FC622-602A-F462-FA00-4E18C10CE6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0024" y="2349923"/>
            <a:ext cx="2916416" cy="3888555"/>
          </a:xfrm>
          <a:prstGeom prst="rect">
            <a:avLst/>
          </a:prstGeom>
        </p:spPr>
      </p:pic>
    </p:spTree>
    <p:extLst>
      <p:ext uri="{BB962C8B-B14F-4D97-AF65-F5344CB8AC3E}">
        <p14:creationId xmlns:p14="http://schemas.microsoft.com/office/powerpoint/2010/main" val="671505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F7FDC-C746-0FFF-DBD6-3017AFEE274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D2EF302-C27A-7CEC-297C-2DDE298B8A24}"/>
              </a:ext>
            </a:extLst>
          </p:cNvPr>
          <p:cNvSpPr txBox="1"/>
          <p:nvPr/>
        </p:nvSpPr>
        <p:spPr>
          <a:xfrm>
            <a:off x="447773" y="18854"/>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Comparative Analysis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090FCFC-D9C7-C3DA-CF6B-C794170EC83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2" name="Title 2">
            <a:extLst>
              <a:ext uri="{FF2B5EF4-FFF2-40B4-BE49-F238E27FC236}">
                <a16:creationId xmlns:a16="http://schemas.microsoft.com/office/drawing/2014/main" id="{6DDE0B0A-FBB0-45F0-FD27-B0E080A644AE}"/>
              </a:ext>
            </a:extLst>
          </p:cNvPr>
          <p:cNvSpPr txBox="1"/>
          <p:nvPr/>
        </p:nvSpPr>
        <p:spPr>
          <a:xfrm>
            <a:off x="-1752840" y="2111419"/>
            <a:ext cx="8229600" cy="609600"/>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41435CC-59FF-5B96-9112-C628AB557B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342" y="2441542"/>
            <a:ext cx="6241464" cy="3479049"/>
          </a:xfrm>
          <a:prstGeom prst="rect">
            <a:avLst/>
          </a:prstGeom>
        </p:spPr>
      </p:pic>
      <p:sp>
        <p:nvSpPr>
          <p:cNvPr id="4" name="TextBox 3">
            <a:extLst>
              <a:ext uri="{FF2B5EF4-FFF2-40B4-BE49-F238E27FC236}">
                <a16:creationId xmlns:a16="http://schemas.microsoft.com/office/drawing/2014/main" id="{7A582902-5319-9E06-7AAD-28D8EE8BCA70}"/>
              </a:ext>
            </a:extLst>
          </p:cNvPr>
          <p:cNvSpPr txBox="1"/>
          <p:nvPr/>
        </p:nvSpPr>
        <p:spPr>
          <a:xfrm>
            <a:off x="289515" y="1346891"/>
            <a:ext cx="8396925"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shows how closely the </a:t>
            </a:r>
            <a:r>
              <a:rPr lang="en-US" sz="2000" b="1" dirty="0">
                <a:latin typeface="Times New Roman" panose="02020603050405020304" pitchFamily="18" charset="0"/>
                <a:cs typeface="Times New Roman" panose="02020603050405020304" pitchFamily="18" charset="0"/>
              </a:rPr>
              <a:t>LSTM model</a:t>
            </a:r>
            <a:r>
              <a:rPr lang="en-US" sz="2000" dirty="0">
                <a:latin typeface="Times New Roman" panose="02020603050405020304" pitchFamily="18" charset="0"/>
                <a:cs typeface="Times New Roman" panose="02020603050405020304" pitchFamily="18" charset="0"/>
              </a:rPr>
              <a:t> (red dashed line) follows the </a:t>
            </a:r>
            <a:r>
              <a:rPr lang="en-US" sz="2000" b="1" dirty="0">
                <a:latin typeface="Times New Roman" panose="02020603050405020304" pitchFamily="18" charset="0"/>
                <a:cs typeface="Times New Roman" panose="02020603050405020304" pitchFamily="18" charset="0"/>
              </a:rPr>
              <a:t>Actual Price</a:t>
            </a:r>
            <a:r>
              <a:rPr lang="en-US" sz="2000" dirty="0">
                <a:latin typeface="Times New Roman" panose="02020603050405020304" pitchFamily="18" charset="0"/>
                <a:cs typeface="Times New Roman" panose="02020603050405020304" pitchFamily="18" charset="0"/>
              </a:rPr>
              <a:t> (blue line). It proves the model can accurately "mirror" real-world market shifts.</a:t>
            </a:r>
          </a:p>
        </p:txBody>
      </p:sp>
    </p:spTree>
    <p:extLst>
      <p:ext uri="{BB962C8B-B14F-4D97-AF65-F5344CB8AC3E}">
        <p14:creationId xmlns:p14="http://schemas.microsoft.com/office/powerpoint/2010/main" val="1136553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914BD-4348-6BC0-36E8-DBE44816100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3725408-8F96-4C67-1D1A-0D2B2AA6A77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Model Training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6B5477F-34FB-EDB2-2D3A-9FEA77FB830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2" name="Title 2">
            <a:extLst>
              <a:ext uri="{FF2B5EF4-FFF2-40B4-BE49-F238E27FC236}">
                <a16:creationId xmlns:a16="http://schemas.microsoft.com/office/drawing/2014/main" id="{02551B21-C380-9063-037F-F56255B6AFAF}"/>
              </a:ext>
            </a:extLst>
          </p:cNvPr>
          <p:cNvSpPr txBox="1"/>
          <p:nvPr/>
        </p:nvSpPr>
        <p:spPr>
          <a:xfrm>
            <a:off x="501445" y="1551039"/>
            <a:ext cx="8229600" cy="609600"/>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A06B706-9BFC-990D-49D2-89165E1F1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569" y="2507784"/>
            <a:ext cx="5622862" cy="3397949"/>
          </a:xfrm>
          <a:prstGeom prst="rect">
            <a:avLst/>
          </a:prstGeom>
        </p:spPr>
      </p:pic>
      <p:sp>
        <p:nvSpPr>
          <p:cNvPr id="4" name="TextBox 3">
            <a:extLst>
              <a:ext uri="{FF2B5EF4-FFF2-40B4-BE49-F238E27FC236}">
                <a16:creationId xmlns:a16="http://schemas.microsoft.com/office/drawing/2014/main" id="{B3F56F48-9D5F-118E-C937-9A0E47B032AF}"/>
              </a:ext>
            </a:extLst>
          </p:cNvPr>
          <p:cNvSpPr txBox="1"/>
          <p:nvPr/>
        </p:nvSpPr>
        <p:spPr>
          <a:xfrm>
            <a:off x="334120" y="1348007"/>
            <a:ext cx="8396925"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is a "Loss Curve". It shows the </a:t>
            </a:r>
            <a:r>
              <a:rPr lang="en-US" sz="2000" b="1" dirty="0">
                <a:latin typeface="Times New Roman" panose="02020603050405020304" pitchFamily="18" charset="0"/>
                <a:cs typeface="Times New Roman" panose="02020603050405020304" pitchFamily="18" charset="0"/>
              </a:rPr>
              <a:t>Mean Squared Error</a:t>
            </a:r>
            <a:r>
              <a:rPr lang="en-US" sz="2000" dirty="0">
                <a:latin typeface="Times New Roman" panose="02020603050405020304" pitchFamily="18" charset="0"/>
                <a:cs typeface="Times New Roman" panose="02020603050405020304" pitchFamily="18" charset="0"/>
              </a:rPr>
              <a:t> dropping over 25 training rounds (epochs), proving that the AI is successfully learning and not just guessing.</a:t>
            </a:r>
          </a:p>
        </p:txBody>
      </p:sp>
    </p:spTree>
    <p:extLst>
      <p:ext uri="{BB962C8B-B14F-4D97-AF65-F5344CB8AC3E}">
        <p14:creationId xmlns:p14="http://schemas.microsoft.com/office/powerpoint/2010/main" val="416344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660D-05FC-41B5-3023-3EB8A995C42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0C4AC20-8ACC-A90B-7AC7-1E76EFCC7C9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Probability Density</a:t>
            </a:r>
          </a:p>
        </p:txBody>
      </p:sp>
      <p:sp>
        <p:nvSpPr>
          <p:cNvPr id="110" name="TextShape 3">
            <a:extLst>
              <a:ext uri="{FF2B5EF4-FFF2-40B4-BE49-F238E27FC236}">
                <a16:creationId xmlns:a16="http://schemas.microsoft.com/office/drawing/2014/main" id="{00B73013-EA08-05E1-7F60-81798DE5342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2" name="Title 2">
            <a:extLst>
              <a:ext uri="{FF2B5EF4-FFF2-40B4-BE49-F238E27FC236}">
                <a16:creationId xmlns:a16="http://schemas.microsoft.com/office/drawing/2014/main" id="{8756FDA5-242C-B27F-E5BD-9A485DE76BD7}"/>
              </a:ext>
            </a:extLst>
          </p:cNvPr>
          <p:cNvSpPr txBox="1"/>
          <p:nvPr/>
        </p:nvSpPr>
        <p:spPr>
          <a:xfrm>
            <a:off x="501445" y="1551039"/>
            <a:ext cx="8229600" cy="609600"/>
          </a:xfrm>
          <a:prstGeom prst="rect">
            <a:avLst/>
          </a:prstGeom>
        </p:spPr>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37BDDC-3C27-41EF-1619-1045164AD93B}"/>
              </a:ext>
            </a:extLst>
          </p:cNvPr>
          <p:cNvSpPr txBox="1"/>
          <p:nvPr/>
        </p:nvSpPr>
        <p:spPr>
          <a:xfrm>
            <a:off x="334120" y="1348007"/>
            <a:ext cx="8396925"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Figure 3 is your "Input Distribution"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Figure 4 is your "Inference Validation."</a:t>
            </a:r>
            <a:r>
              <a:rPr lang="en-US" sz="2000" dirty="0">
                <a:latin typeface="Times New Roman" panose="02020603050405020304" pitchFamily="18" charset="0"/>
                <a:cs typeface="Times New Roman" panose="02020603050405020304" pitchFamily="18" charset="0"/>
              </a:rPr>
              <a:t> Together, they prove that your </a:t>
            </a:r>
            <a:r>
              <a:rPr lang="en-US" sz="2000" dirty="0" err="1">
                <a:latin typeface="Times New Roman" panose="02020603050405020304" pitchFamily="18" charset="0"/>
                <a:cs typeface="Times New Roman" panose="02020603050405020304" pitchFamily="18" charset="0"/>
              </a:rPr>
              <a:t>SmartPrice</a:t>
            </a:r>
            <a:r>
              <a:rPr lang="en-US" sz="2000" dirty="0">
                <a:latin typeface="Times New Roman" panose="02020603050405020304" pitchFamily="18" charset="0"/>
                <a:cs typeface="Times New Roman" panose="02020603050405020304" pitchFamily="18" charset="0"/>
              </a:rPr>
              <a:t> AI isn't just guessing, but is actually mapping the historical probability of price movements to real-world outcomes.</a:t>
            </a:r>
          </a:p>
        </p:txBody>
      </p:sp>
      <p:pic>
        <p:nvPicPr>
          <p:cNvPr id="5" name="Picture 4">
            <a:extLst>
              <a:ext uri="{FF2B5EF4-FFF2-40B4-BE49-F238E27FC236}">
                <a16:creationId xmlns:a16="http://schemas.microsoft.com/office/drawing/2014/main" id="{3C39057A-82B6-9A67-FBD1-14EF69E9BF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31" y="2671446"/>
            <a:ext cx="4361525" cy="2507556"/>
          </a:xfrm>
          <a:prstGeom prst="rect">
            <a:avLst/>
          </a:prstGeom>
        </p:spPr>
      </p:pic>
      <p:pic>
        <p:nvPicPr>
          <p:cNvPr id="6" name="Picture 5">
            <a:extLst>
              <a:ext uri="{FF2B5EF4-FFF2-40B4-BE49-F238E27FC236}">
                <a16:creationId xmlns:a16="http://schemas.microsoft.com/office/drawing/2014/main" id="{ED6AE164-2203-3572-8775-871DC79A41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6245" y="3721005"/>
            <a:ext cx="4440365" cy="2635515"/>
          </a:xfrm>
          <a:prstGeom prst="rect">
            <a:avLst/>
          </a:prstGeom>
        </p:spPr>
      </p:pic>
    </p:spTree>
    <p:extLst>
      <p:ext uri="{BB962C8B-B14F-4D97-AF65-F5344CB8AC3E}">
        <p14:creationId xmlns:p14="http://schemas.microsoft.com/office/powerpoint/2010/main" val="1195230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9BF5F-E662-E569-6C3A-F99C4A6DF4C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FB37C13-777B-1C8D-19DC-C73DB6CBFB75}"/>
              </a:ext>
            </a:extLst>
          </p:cNvPr>
          <p:cNvSpPr txBox="1"/>
          <p:nvPr/>
        </p:nvSpPr>
        <p:spPr>
          <a:xfrm>
            <a:off x="913984" y="0"/>
            <a:ext cx="7338767" cy="837720"/>
          </a:xfrm>
          <a:prstGeom prst="rect">
            <a:avLst/>
          </a:prstGeom>
          <a:noFill/>
          <a:ln w="9360">
            <a:noFill/>
          </a:ln>
        </p:spPr>
        <p:txBody>
          <a:bodyPr anchor="ctr">
            <a:noAutofit/>
          </a:bodyPr>
          <a:lstStyle/>
          <a:p>
            <a:r>
              <a:rPr lang="en-US" sz="3200" dirty="0">
                <a:latin typeface="Times New Roman" panose="02020603050405020304" pitchFamily="18" charset="0"/>
                <a:cs typeface="Times New Roman" panose="02020603050405020304" pitchFamily="18" charset="0"/>
              </a:rPr>
              <a:t>Results</a:t>
            </a:r>
            <a:endParaRPr lang="en-US" sz="2800"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40BFE0B-BDB0-CBF5-4AD3-A51C9668737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pic>
        <p:nvPicPr>
          <p:cNvPr id="6" name="Picture 5">
            <a:extLst>
              <a:ext uri="{FF2B5EF4-FFF2-40B4-BE49-F238E27FC236}">
                <a16:creationId xmlns:a16="http://schemas.microsoft.com/office/drawing/2014/main" id="{842994CD-F18B-61AD-7C98-766FA3A770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3128" y="3117915"/>
            <a:ext cx="5033359" cy="3126784"/>
          </a:xfrm>
          <a:prstGeom prst="rect">
            <a:avLst/>
          </a:prstGeom>
        </p:spPr>
      </p:pic>
      <p:graphicFrame>
        <p:nvGraphicFramePr>
          <p:cNvPr id="7" name="Table 6">
            <a:extLst>
              <a:ext uri="{FF2B5EF4-FFF2-40B4-BE49-F238E27FC236}">
                <a16:creationId xmlns:a16="http://schemas.microsoft.com/office/drawing/2014/main" id="{45FB2124-A6A0-41B4-A73F-6A43704A2BCF}"/>
              </a:ext>
            </a:extLst>
          </p:cNvPr>
          <p:cNvGraphicFramePr>
            <a:graphicFrameLocks noGrp="1"/>
          </p:cNvGraphicFramePr>
          <p:nvPr>
            <p:extLst>
              <p:ext uri="{D42A27DB-BD31-4B8C-83A1-F6EECF244321}">
                <p14:modId xmlns:p14="http://schemas.microsoft.com/office/powerpoint/2010/main" val="494572281"/>
              </p:ext>
            </p:extLst>
          </p:nvPr>
        </p:nvGraphicFramePr>
        <p:xfrm>
          <a:off x="426031" y="1341668"/>
          <a:ext cx="5135783" cy="1392105"/>
        </p:xfrm>
        <a:graphic>
          <a:graphicData uri="http://schemas.openxmlformats.org/drawingml/2006/table">
            <a:tbl>
              <a:tblPr firstRow="1" firstCol="1" lastRow="1" lastCol="1" bandRow="1" bandCol="1"/>
              <a:tblGrid>
                <a:gridCol w="1060803">
                  <a:extLst>
                    <a:ext uri="{9D8B030D-6E8A-4147-A177-3AD203B41FA5}">
                      <a16:colId xmlns:a16="http://schemas.microsoft.com/office/drawing/2014/main" val="4195826064"/>
                    </a:ext>
                  </a:extLst>
                </a:gridCol>
                <a:gridCol w="894907">
                  <a:extLst>
                    <a:ext uri="{9D8B030D-6E8A-4147-A177-3AD203B41FA5}">
                      <a16:colId xmlns:a16="http://schemas.microsoft.com/office/drawing/2014/main" val="1238670584"/>
                    </a:ext>
                  </a:extLst>
                </a:gridCol>
                <a:gridCol w="894907">
                  <a:extLst>
                    <a:ext uri="{9D8B030D-6E8A-4147-A177-3AD203B41FA5}">
                      <a16:colId xmlns:a16="http://schemas.microsoft.com/office/drawing/2014/main" val="2139997714"/>
                    </a:ext>
                  </a:extLst>
                </a:gridCol>
                <a:gridCol w="1225531">
                  <a:extLst>
                    <a:ext uri="{9D8B030D-6E8A-4147-A177-3AD203B41FA5}">
                      <a16:colId xmlns:a16="http://schemas.microsoft.com/office/drawing/2014/main" val="3381982891"/>
                    </a:ext>
                  </a:extLst>
                </a:gridCol>
                <a:gridCol w="1059635">
                  <a:extLst>
                    <a:ext uri="{9D8B030D-6E8A-4147-A177-3AD203B41FA5}">
                      <a16:colId xmlns:a16="http://schemas.microsoft.com/office/drawing/2014/main" val="2854933318"/>
                    </a:ext>
                  </a:extLst>
                </a:gridCol>
              </a:tblGrid>
              <a:tr h="76139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10" dirty="0">
                          <a:effectLst/>
                        </a:rPr>
                        <a:t>Model</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25" dirty="0">
                          <a:effectLst/>
                        </a:rPr>
                        <a:t>MAE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20" dirty="0">
                          <a:effectLst/>
                        </a:rPr>
                        <a:t>RMSE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38735">
                        <a:lnSpc>
                          <a:spcPct val="96000"/>
                        </a:lnSpc>
                        <a:spcBef>
                          <a:spcPts val="210"/>
                        </a:spcBef>
                        <a:buNone/>
                      </a:pPr>
                      <a:r>
                        <a:rPr lang="en-US" sz="1400" spc="-10" dirty="0">
                          <a:effectLst/>
                        </a:rPr>
                        <a:t>Training</a:t>
                      </a:r>
                      <a:r>
                        <a:rPr lang="en-US" sz="1400" spc="200" dirty="0">
                          <a:effectLst/>
                        </a:rPr>
                        <a:t> </a:t>
                      </a:r>
                      <a:r>
                        <a:rPr lang="en-US" sz="1400" dirty="0">
                          <a:effectLst/>
                        </a:rPr>
                        <a:t>Loss</a:t>
                      </a:r>
                      <a:r>
                        <a:rPr lang="en-US" sz="1400" spc="-10" dirty="0">
                          <a:effectLst/>
                        </a:rPr>
                        <a:t> </a:t>
                      </a:r>
                      <a:r>
                        <a:rPr lang="en-US" sz="1400" dirty="0">
                          <a:effectLst/>
                        </a:rPr>
                        <a:t>(MSE)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865" marR="55245">
                        <a:lnSpc>
                          <a:spcPct val="96000"/>
                        </a:lnSpc>
                        <a:spcBef>
                          <a:spcPts val="210"/>
                        </a:spcBef>
                        <a:buNone/>
                      </a:pPr>
                      <a:r>
                        <a:rPr lang="en-US" sz="1400" spc="-10">
                          <a:effectLst/>
                        </a:rPr>
                        <a:t>Prediction</a:t>
                      </a:r>
                      <a:r>
                        <a:rPr lang="en-US" sz="1400" spc="200">
                          <a:effectLst/>
                        </a:rPr>
                        <a:t> </a:t>
                      </a:r>
                      <a:r>
                        <a:rPr lang="en-US" sz="1400" spc="-10">
                          <a:effectLst/>
                        </a:rPr>
                        <a:t>Accuracy</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extLst>
                  <a:ext uri="{0D108BD9-81ED-4DB2-BD59-A6C34878D82A}">
                    <a16:rowId xmlns:a16="http://schemas.microsoft.com/office/drawing/2014/main" val="3356969473"/>
                  </a:ext>
                </a:extLst>
              </a:tr>
              <a:tr h="2644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10" dirty="0">
                          <a:effectLst/>
                        </a:rPr>
                        <a:t>ARIMA</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62230" marR="0">
                        <a:spcBef>
                          <a:spcPts val="190"/>
                        </a:spcBef>
                        <a:buNone/>
                      </a:pPr>
                      <a:r>
                        <a:rPr lang="en-US" sz="1400" spc="-20">
                          <a:effectLst/>
                        </a:rPr>
                        <a:t>1850</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62230" marR="0">
                        <a:spcBef>
                          <a:spcPts val="190"/>
                        </a:spcBef>
                        <a:buNone/>
                      </a:pPr>
                      <a:r>
                        <a:rPr lang="en-US" sz="1400" spc="-20" dirty="0">
                          <a:effectLst/>
                        </a:rPr>
                        <a:t>2360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tint val="4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62230" marR="0">
                        <a:spcBef>
                          <a:spcPts val="190"/>
                        </a:spcBef>
                        <a:buNone/>
                      </a:pPr>
                      <a:r>
                        <a:rPr lang="en-US" sz="1400" spc="-10" dirty="0">
                          <a:effectLst/>
                        </a:rPr>
                        <a:t>0.012</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tint val="4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865" marR="0">
                        <a:spcBef>
                          <a:spcPts val="190"/>
                        </a:spcBef>
                        <a:buNone/>
                      </a:pPr>
                      <a:r>
                        <a:rPr lang="en-US" sz="1400" spc="-10">
                          <a:effectLst/>
                        </a:rPr>
                        <a:t>82.4%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CADE4"/>
                    </a:solidFill>
                  </a:tcPr>
                </a:tc>
                <a:extLst>
                  <a:ext uri="{0D108BD9-81ED-4DB2-BD59-A6C34878D82A}">
                    <a16:rowId xmlns:a16="http://schemas.microsoft.com/office/drawing/2014/main" val="2258027489"/>
                  </a:ext>
                </a:extLst>
              </a:tr>
              <a:tr h="36630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20" dirty="0">
                          <a:effectLst/>
                        </a:rPr>
                        <a:t>LSTM</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25" dirty="0">
                          <a:effectLst/>
                        </a:rPr>
                        <a:t>620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25" dirty="0">
                          <a:effectLst/>
                        </a:rPr>
                        <a:t>890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230" marR="0">
                        <a:spcBef>
                          <a:spcPts val="190"/>
                        </a:spcBef>
                        <a:buNone/>
                      </a:pPr>
                      <a:r>
                        <a:rPr lang="en-US" sz="1400" spc="-10" dirty="0">
                          <a:effectLst/>
                        </a:rPr>
                        <a:t>0.003</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ADE4"/>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62865" marR="0">
                        <a:spcBef>
                          <a:spcPts val="190"/>
                        </a:spcBef>
                        <a:buNone/>
                      </a:pPr>
                      <a:r>
                        <a:rPr lang="en-US" sz="1400" spc="-10" dirty="0">
                          <a:effectLst/>
                        </a:rPr>
                        <a:t>93.7%</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CADE4"/>
                    </a:solidFill>
                  </a:tcPr>
                </a:tc>
                <a:extLst>
                  <a:ext uri="{0D108BD9-81ED-4DB2-BD59-A6C34878D82A}">
                    <a16:rowId xmlns:a16="http://schemas.microsoft.com/office/drawing/2014/main" val="1520271414"/>
                  </a:ext>
                </a:extLst>
              </a:tr>
            </a:tbl>
          </a:graphicData>
        </a:graphic>
      </p:graphicFrame>
    </p:spTree>
    <p:extLst>
      <p:ext uri="{BB962C8B-B14F-4D97-AF65-F5344CB8AC3E}">
        <p14:creationId xmlns:p14="http://schemas.microsoft.com/office/powerpoint/2010/main" val="3035956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46BD-ACBC-5B81-FE60-B3C5DC6A04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42315A4-F738-1BCA-B8FC-CD2F5AFB7D39}"/>
              </a:ext>
            </a:extLst>
          </p:cNvPr>
          <p:cNvSpPr txBox="1"/>
          <p:nvPr/>
        </p:nvSpPr>
        <p:spPr>
          <a:xfrm>
            <a:off x="913984" y="0"/>
            <a:ext cx="7338767" cy="837720"/>
          </a:xfrm>
          <a:prstGeom prst="rect">
            <a:avLst/>
          </a:prstGeom>
          <a:noFill/>
          <a:ln w="9360">
            <a:noFill/>
          </a:ln>
        </p:spPr>
        <p:txBody>
          <a:bodyPr anchor="ctr">
            <a:noAutofit/>
          </a:bodyPr>
          <a:lstStyle/>
          <a:p>
            <a:r>
              <a:rPr lang="en-US" sz="2800" dirty="0">
                <a:latin typeface="Times New Roman" panose="02020603050405020304" pitchFamily="18" charset="0"/>
                <a:cs typeface="Times New Roman" panose="02020603050405020304" pitchFamily="18" charset="0"/>
              </a:rPr>
              <a:t>Conclusion</a:t>
            </a:r>
          </a:p>
        </p:txBody>
      </p:sp>
      <p:sp>
        <p:nvSpPr>
          <p:cNvPr id="110" name="TextShape 3">
            <a:extLst>
              <a:ext uri="{FF2B5EF4-FFF2-40B4-BE49-F238E27FC236}">
                <a16:creationId xmlns:a16="http://schemas.microsoft.com/office/drawing/2014/main" id="{D16315EF-95D7-48B1-88B3-9333074C2A5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Box 4">
            <a:extLst>
              <a:ext uri="{FF2B5EF4-FFF2-40B4-BE49-F238E27FC236}">
                <a16:creationId xmlns:a16="http://schemas.microsoft.com/office/drawing/2014/main" id="{86B7AB75-3DA6-B691-C416-3DB9696FCD27}"/>
              </a:ext>
            </a:extLst>
          </p:cNvPr>
          <p:cNvSpPr txBox="1"/>
          <p:nvPr/>
        </p:nvSpPr>
        <p:spPr>
          <a:xfrm>
            <a:off x="386499" y="1187777"/>
            <a:ext cx="7975076" cy="3785652"/>
          </a:xfrm>
          <a:prstGeom prst="rect">
            <a:avLst/>
          </a:prstGeom>
          <a:noFill/>
        </p:spPr>
        <p:txBody>
          <a:bodyPr wrap="square">
            <a:spAutoFit/>
          </a:bodyPr>
          <a:lstStyle/>
          <a:p>
            <a:endParaRPr lang="en-US" sz="2000" b="1"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research proposed </a:t>
            </a:r>
            <a:r>
              <a:rPr lang="en-US" sz="2000" dirty="0" err="1">
                <a:latin typeface="Times New Roman" panose="02020603050405020304" pitchFamily="18" charset="0"/>
                <a:cs typeface="Times New Roman" panose="02020603050405020304" pitchFamily="18" charset="0"/>
              </a:rPr>
              <a:t>SmartPrice</a:t>
            </a:r>
            <a:r>
              <a:rPr lang="en-US" sz="2000" dirty="0">
                <a:latin typeface="Times New Roman" panose="02020603050405020304" pitchFamily="18" charset="0"/>
                <a:cs typeface="Times New Roman" panose="02020603050405020304" pitchFamily="18" charset="0"/>
              </a:rPr>
              <a:t> AI, an intelligent system that predicts online product price fluctuations.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uses time-series forecasting models (ARIMA and LSTM) to analyze historical price trends and estimate future prices.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Experimental results show that the LSTM model provides higher prediction accuracy and lower error values compared to traditional ARIMA models.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generates practical recommendations such as “Buy Now” or “Wait”, helping users make cost-effective purchasing decisions.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proposed solution improves consumer decision-making and enhances the online shopping experience.</a:t>
            </a:r>
          </a:p>
        </p:txBody>
      </p:sp>
    </p:spTree>
    <p:extLst>
      <p:ext uri="{BB962C8B-B14F-4D97-AF65-F5344CB8AC3E}">
        <p14:creationId xmlns:p14="http://schemas.microsoft.com/office/powerpoint/2010/main" val="1393735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34730</TotalTime>
  <Words>761</Words>
  <Application>Microsoft Office PowerPoint</Application>
  <PresentationFormat>On-screen Show (4:3)</PresentationFormat>
  <Paragraphs>87</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Satish Kumar</cp:lastModifiedBy>
  <cp:revision>2303</cp:revision>
  <dcterms:created xsi:type="dcterms:W3CDTF">2010-04-09T07:36:15Z</dcterms:created>
  <dcterms:modified xsi:type="dcterms:W3CDTF">2026-05-05T04:44:30Z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